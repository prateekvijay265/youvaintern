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4F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0" b="1">
                <a:solidFill>
                  <a:srgbClr val="4F3025"/>
                </a:solidFill>
                <a:latin typeface="Arial"/>
              </a:defRPr>
            </a:pPr>
            <a:r>
              <a:t>*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0"/>
            <a:ext cx="2286000" cy="1371600"/>
          </a:xfrm>
          <a:prstGeom prst="roundRect">
            <a:avLst>
              <a:gd name="adj" fmla="val 50000"/>
            </a:avLst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0" y="3657600"/>
            <a:ext cx="1097280" cy="1097280"/>
          </a:xfrm>
          <a:prstGeom prst="ellipse">
            <a:avLst/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4572000" cy="2286000"/>
          </a:xfrm>
          <a:prstGeom prst="rect">
            <a:avLst/>
          </a:prstGeom>
          <a:solidFill>
            <a:srgbClr val="F0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3025"/>
                </a:solidFill>
                <a:latin typeface="Arial"/>
              </a:defRPr>
            </a:pPr>
            <a:r>
              <a:t>AI/ML INTERNSHIP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0" b="1">
                <a:solidFill>
                  <a:srgbClr val="4F3025"/>
                </a:solidFill>
                <a:latin typeface="Arial"/>
              </a:defRPr>
            </a:pPr>
            <a:r>
              <a:t>INTERNSHIP</a:t>
            </a:r>
            <a:br/>
            <a:r>
              <a:t>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3025"/>
                </a:solidFill>
                <a:latin typeface="Arial"/>
              </a:defRPr>
            </a:pPr>
            <a:r>
              <a:t>A Reflective Overview of My Learning</a:t>
            </a:r>
            <a:br/>
            <a:r>
              <a:t>Experience and Professional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3025"/>
                </a:solidFill>
                <a:latin typeface="Arial"/>
              </a:defRPr>
            </a:pPr>
            <a:r>
              <a:t>Presented by: Prateek Vijay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4F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0" y="457200"/>
            <a:ext cx="5029200" cy="5943600"/>
          </a:xfrm>
          <a:prstGeom prst="roundRect">
            <a:avLst>
              <a:gd name="adj" fmla="val 10000"/>
            </a:avLst>
          </a:prstGeom>
          <a:solidFill>
            <a:srgbClr val="F0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leagues_laptop_17873466744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640080"/>
            <a:ext cx="4663440" cy="5577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14400" y="3657600"/>
            <a:ext cx="5943600" cy="1828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F3025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My 6-week intensive AI internship was a valuable opportunity to experience real-world machine learning challenges in a professional environment.</a:t>
            </a:r>
            <a:br/>
            <a:br/>
            <a:r>
              <a:t>Over the course of the program, I worked closely with industry tools to develop practical skills that enhanced my academic background.</a:t>
            </a:r>
            <a:br/>
            <a:br/>
            <a:r>
              <a:t>This presentation outlines the key aspects of my projects, focusing especially on AI Model Deployment and API engineering.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F0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4F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500" b="1">
                <a:solidFill>
                  <a:srgbClr val="4F3025"/>
                </a:solidFill>
                <a:latin typeface="Arial"/>
              </a:defRPr>
            </a:pPr>
            <a:r>
              <a:t>OBJECTIVES</a:t>
            </a:r>
            <a:br/>
            <a:r>
              <a:t>OF THE</a:t>
            </a:r>
            <a:br/>
            <a:r>
              <a:t>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3025"/>
                </a:solidFill>
                <a:latin typeface="Arial"/>
              </a:defRPr>
            </a:pPr>
            <a:r>
              <a:t>The internship was designed to bridge the gap between academic theory and AI in production reality. It offered a chance to explore how data science functions in practice and to identify the skills necessary for success in the field.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3840480"/>
            <a:ext cx="5486400" cy="731520"/>
          </a:xfrm>
          <a:prstGeom prst="roundRect">
            <a:avLst>
              <a:gd name="adj" fmla="val 50000"/>
            </a:avLst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Apply university knowledge in a real business environment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4754880"/>
            <a:ext cx="5486400" cy="731520"/>
          </a:xfrm>
          <a:prstGeom prst="roundRect">
            <a:avLst>
              <a:gd name="adj" fmla="val 50000"/>
            </a:avLst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Gain insight into machine learning pipelines and workflows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5669280"/>
            <a:ext cx="5486400" cy="731520"/>
          </a:xfrm>
          <a:prstGeom prst="roundRect">
            <a:avLst>
              <a:gd name="adj" fmla="val 50000"/>
            </a:avLst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852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Enhance professional coding, deployment and monitoring skills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0"/>
            <a:ext cx="12191695" cy="3200400"/>
          </a:xfrm>
          <a:prstGeom prst="rect">
            <a:avLst/>
          </a:prstGeom>
          <a:solidFill>
            <a:srgbClr val="F0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500" b="1">
                <a:solidFill>
                  <a:srgbClr val="4F3025"/>
                </a:solidFill>
                <a:latin typeface="Arial"/>
              </a:defRPr>
            </a:pPr>
            <a:r>
              <a:t>API</a:t>
            </a:r>
            <a:br/>
            <a:r>
              <a:t>DEPLOYMENT</a:t>
            </a:r>
            <a:br/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3025"/>
                </a:solidFill>
                <a:latin typeface="Arial"/>
              </a:defRPr>
            </a:pPr>
            <a:r>
              <a:t>The most substantial deliverable of the internship was the end-to-end deployment of the AI model. It was shipped as a production-ready REST API, focusing on resilience, monitoring, and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4114800"/>
            <a:ext cx="2743200" cy="1097280"/>
          </a:xfrm>
          <a:prstGeom prst="roundRect">
            <a:avLst>
              <a:gd name="adj" fmla="val 20000"/>
            </a:avLst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4297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F3025"/>
                </a:solidFill>
                <a:latin typeface="Arial"/>
              </a:defRPr>
            </a:pPr>
            <a:r>
              <a:t>FastAPI Framework for fast, robust routing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4114800"/>
            <a:ext cx="2743200" cy="1097280"/>
          </a:xfrm>
          <a:prstGeom prst="roundRect">
            <a:avLst>
              <a:gd name="adj" fmla="val 20000"/>
            </a:avLst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4297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F3025"/>
                </a:solidFill>
                <a:latin typeface="Arial"/>
              </a:defRPr>
            </a:pPr>
            <a:r>
              <a:t>Docker Multi-stage Builds for isolation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5486400"/>
            <a:ext cx="2743200" cy="1097280"/>
          </a:xfrm>
          <a:prstGeom prst="roundRect">
            <a:avLst>
              <a:gd name="adj" fmla="val 20000"/>
            </a:avLst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56692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F3025"/>
                </a:solidFill>
                <a:latin typeface="Arial"/>
              </a:defRPr>
            </a:pPr>
            <a:r>
              <a:t>Thread-safe Metrics &amp; JSON Logging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5486400"/>
            <a:ext cx="2743200" cy="1097280"/>
          </a:xfrm>
          <a:prstGeom prst="roundRect">
            <a:avLst>
              <a:gd name="adj" fmla="val 20000"/>
            </a:avLst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56692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F3025"/>
                </a:solidFill>
                <a:latin typeface="Arial"/>
              </a:defRPr>
            </a:pPr>
            <a:r>
              <a:t>15 Automated Pytest tests for API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500" b="1">
                <a:solidFill>
                  <a:srgbClr val="4F3025"/>
                </a:solidFill>
                <a:latin typeface="Arial"/>
              </a:defRPr>
            </a:pPr>
            <a:r>
              <a:t>DEPLOYMENT</a:t>
            </a:r>
            <a:br/>
            <a:r>
              <a:t>TASKS AND</a:t>
            </a:r>
            <a:br/>
            <a:r>
              <a:t>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3025"/>
                </a:solidFill>
                <a:latin typeface="Arial"/>
              </a:defRPr>
            </a:pPr>
            <a:r>
              <a:t>I focused on engineering the infrastructure required to serve the Random Forest classifier reliably. This meant containerizing the service and ensuring high observability.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22860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840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F3025"/>
                </a:solidFill>
                <a:latin typeface="Arial"/>
              </a:defRPr>
            </a:pPr>
            <a:r>
              <a:t>Designed REST API endpoints using FastAPI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3657600"/>
            <a:ext cx="2286000" cy="914400"/>
          </a:xfrm>
          <a:prstGeom prst="roundRect">
            <a:avLst>
              <a:gd name="adj" fmla="val 50000"/>
            </a:avLst>
          </a:prstGeom>
          <a:solidFill>
            <a:srgbClr val="F0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3840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F3025"/>
                </a:solidFill>
                <a:latin typeface="Arial"/>
              </a:defRPr>
            </a:pPr>
            <a:r>
              <a:t>Containerized app with Docker Compose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54880"/>
            <a:ext cx="2286000" cy="914400"/>
          </a:xfrm>
          <a:prstGeom prst="roundRect">
            <a:avLst>
              <a:gd name="adj" fmla="val 50000"/>
            </a:avLst>
          </a:prstGeom>
          <a:solidFill>
            <a:srgbClr val="F0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F3025"/>
                </a:solidFill>
                <a:latin typeface="Arial"/>
              </a:defRPr>
            </a:pPr>
            <a:r>
              <a:t>Implemented thread-safe Prometheus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4754880"/>
            <a:ext cx="2286000" cy="914400"/>
          </a:xfrm>
          <a:prstGeom prst="roundRect">
            <a:avLst>
              <a:gd name="adj" fmla="val 50000"/>
            </a:avLst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49377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F3025"/>
                </a:solidFill>
                <a:latin typeface="Arial"/>
              </a:defRPr>
            </a:pPr>
            <a:r>
              <a:t>Wrote extensive Pytest automation suite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4F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eam_meeting_overhead_17873466864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914400"/>
            <a:ext cx="4389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>
              <a:gd name="adj" fmla="val 10000"/>
            </a:avLst>
          </a:prstGeom>
          <a:solidFill>
            <a:srgbClr val="F0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500" b="1">
                <a:solidFill>
                  <a:srgbClr val="4F3025"/>
                </a:solidFill>
                <a:latin typeface="Arial"/>
              </a:defRPr>
            </a:pPr>
            <a:r>
              <a:t>DEPLOYMENT SKILLS GAINED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743200"/>
            <a:ext cx="7619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F3025"/>
                </a:solidFill>
                <a:latin typeface="Arial"/>
              </a:defRPr>
            </a:pPr>
            <a:r>
              <a:t>My focus on the deployment phase allowed me to strengthen my software engineering and DevOps skills. I became proficient in building RESTful APIs using FastAPI and Pydantic validation, and learned how to containerize Python applications efficiently using multi-stage Docker builds.</a:t>
            </a:r>
            <a:br/>
            <a:br/>
            <a:r>
              <a:t>Crucially, I learned the importance of system observability—implementing structured JSON logging and in-process metrics to monitor latency, request volume, and model drift in a production environment.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F0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0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yping_hands_17873467009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36576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3832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3025"/>
                </a:solidFill>
                <a:latin typeface="Arial"/>
              </a:defRPr>
            </a:pPr>
            <a:r>
              <a:t>One of the main challenges I encountered was adjusting to the complexities of container orchestration and robust API design. Deadlines were tight, and configuring Docker health checks while keeping the image size small was tricky.</a:t>
            </a:r>
            <a:br/>
            <a:br/>
            <a:r>
              <a:t>I learned to manage stress under pressure, quickly adapt to new tools like Docker and FastAPI, and systematically debug container logs.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5486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500" b="1">
                <a:solidFill>
                  <a:srgbClr val="4F3025"/>
                </a:solidFill>
                <a:latin typeface="Arial"/>
              </a:defRPr>
            </a:pPr>
            <a:r>
              <a:t>CHALLENGES</a:t>
            </a:r>
            <a:br/>
            <a:r>
              <a:t>FACED</a:t>
            </a:r>
          </a:p>
        </p:txBody>
      </p:sp>
      <p:sp>
        <p:nvSpPr>
          <p:cNvPr id="8" name="Oval 7"/>
          <p:cNvSpPr/>
          <p:nvPr/>
        </p:nvSpPr>
        <p:spPr>
          <a:xfrm>
            <a:off x="4572000" y="5486400"/>
            <a:ext cx="731520" cy="731520"/>
          </a:xfrm>
          <a:prstGeom prst="ellipse">
            <a:avLst/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0"/>
            <a:ext cx="5029200" cy="2286000"/>
          </a:xfrm>
          <a:prstGeom prst="roundRect">
            <a:avLst>
              <a:gd name="adj" fmla="val 20000"/>
            </a:avLst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3025"/>
                </a:solidFill>
                <a:latin typeface="Arial"/>
              </a:defRPr>
            </a:pPr>
            <a:r>
              <a:t>Throughout my internship, I discovered the real value of resilient infrastructure in a professional AI environment. Beyond model accuracy, I learned the importance of operational stability, reproducibility, and logging in a workplace setting.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3025"/>
                </a:solidFill>
                <a:latin typeface="Arial"/>
              </a:defRPr>
            </a:pPr>
            <a:r>
              <a:t>Applying theory to production helps identify real world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3025"/>
                </a:solidFill>
                <a:latin typeface="Arial"/>
              </a:defRPr>
            </a:pPr>
            <a:r>
              <a:t>AI engineering requires rigorous automated API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3025"/>
                </a:solidFill>
                <a:latin typeface="Arial"/>
              </a:defRPr>
            </a:pPr>
            <a:r>
              <a:t>Robust observability (logs/metrics) is essential for scale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500" b="1">
                <a:solidFill>
                  <a:srgbClr val="4F3025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200400"/>
            <a:ext cx="3657600" cy="2286000"/>
          </a:xfrm>
          <a:prstGeom prst="roundRect">
            <a:avLst>
              <a:gd name="adj" fmla="val 20000"/>
            </a:avLst>
          </a:prstGeom>
          <a:solidFill>
            <a:srgbClr val="F0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3025"/>
                </a:solidFill>
                <a:latin typeface="Arial"/>
              </a:defRPr>
            </a:pPr>
            <a:r>
              <a:t>Completing this internship was a pivotal step in my academic and professional development. It proved that I can ship a model end-to-end, earning the highest score for deployment practices.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914400"/>
            <a:ext cx="4114800" cy="5029200"/>
          </a:xfrm>
          <a:prstGeom prst="roundRect">
            <a:avLst>
              <a:gd name="adj" fmla="val 20000"/>
            </a:avLst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3025"/>
                </a:solidFill>
                <a:latin typeface="Arial"/>
              </a:defRPr>
            </a:pPr>
            <a:r>
              <a:t>Internships are key to understanding production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560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3025"/>
                </a:solidFill>
                <a:latin typeface="Arial"/>
              </a:defRPr>
            </a:pPr>
            <a:r>
              <a:t>Practical exposure enhances classroom ML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74903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3025"/>
                </a:solidFill>
                <a:latin typeface="Arial"/>
              </a:defRPr>
            </a:pPr>
            <a:r>
              <a:t>Confidence grows through active deployment and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937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3025"/>
                </a:solidFill>
                <a:latin typeface="Arial"/>
              </a:defRPr>
            </a:pPr>
            <a:r>
              <a:t>AI environments require containerization and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>
                <a:solidFill>
                  <a:srgbClr val="4F3025"/>
                </a:solidFill>
                <a:latin typeface="Arial"/>
              </a:defRPr>
            </a:pPr>
            <a:r>
              <a:t>THANK YOU</a:t>
            </a:r>
            <a:br/>
            <a:r>
              <a:t>FOR YOUR</a:t>
            </a:r>
            <a:br/>
            <a:r>
              <a:t>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3025"/>
                </a:solidFill>
                <a:latin typeface="Arial"/>
              </a:defRPr>
            </a:pPr>
            <a:r>
              <a:t>prateek@example.com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3025"/>
                </a:solidFill>
                <a:latin typeface="Arial"/>
              </a:defRPr>
            </a:pPr>
            <a:r>
              <a:t>www.github.com/prateek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3025"/>
                </a:solidFill>
                <a:latin typeface="Arial"/>
              </a:defRPr>
            </a:pPr>
            <a:r>
              <a:t>+123-456-7890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ffice_team_17873466421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914400"/>
            <a:ext cx="438912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