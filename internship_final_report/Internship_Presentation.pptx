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457200" y="-457200"/>
            <a:ext cx="4572000" cy="7772400"/>
          </a:xfrm>
          <a:prstGeom prst="roundRect">
            <a:avLst>
              <a:gd name="adj" fmla="val 5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274320" y="-274320"/>
            <a:ext cx="4206240" cy="7498079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228600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0" y="109728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63FF"/>
                </a:solidFill>
                <a:latin typeface="Calibri"/>
              </a:defRPr>
            </a:pPr>
            <a:r>
              <a:t>COMPREHENSIVE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64592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AI INTERNSHIP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74320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PROJECT REPORT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3931920"/>
            <a:ext cx="274320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42976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8B8"/>
                </a:solidFill>
                <a:latin typeface="Calibri"/>
              </a:defRPr>
            </a:pPr>
            <a:r>
              <a:t>6-Week Intensive AI/ML Internship Program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846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E7681"/>
                </a:solidFill>
                <a:latin typeface="Calibri"/>
              </a:defRPr>
            </a:pPr>
            <a:r>
              <a:t>Duration: May 2026 – June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8B8"/>
                </a:solidFill>
                <a:latin typeface="Calibri"/>
              </a:defRPr>
            </a:pPr>
            <a:r>
              <a:t>▸  Planning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29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8B8"/>
                </a:solidFill>
                <a:latin typeface="Calibri"/>
              </a:defRPr>
            </a:pPr>
            <a:r>
              <a:t>▸  Preprocessing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8B8"/>
                </a:solidFill>
                <a:latin typeface="Calibri"/>
              </a:defRPr>
            </a:pPr>
            <a:r>
              <a:t>▸  Model Building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8B8"/>
                </a:solidFill>
                <a:latin typeface="Calibri"/>
              </a:defRPr>
            </a:pPr>
            <a:r>
              <a:t>▸  Explainability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37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8B8"/>
                </a:solidFill>
                <a:latin typeface="Calibri"/>
              </a:defRPr>
            </a:pPr>
            <a:r>
              <a:t>▸  Deployment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40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8B8"/>
                </a:solidFill>
                <a:latin typeface="Calibri"/>
              </a:defRPr>
            </a:pPr>
            <a:r>
              <a:t>▸  Ethics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INTERNSHIP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19456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5080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63FF"/>
                </a:solidFill>
                <a:latin typeface="Calibri"/>
              </a:defRPr>
            </a:pPr>
            <a:r>
              <a:t>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AI Project Planning</a:t>
            </a:r>
            <a:br/>
            <a:r>
              <a:t>&amp; Documentation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3108960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65/100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645920"/>
            <a:ext cx="3383280" cy="219456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80559" y="1645920"/>
            <a:ext cx="3383280" cy="50800"/>
          </a:xfrm>
          <a:prstGeom prst="roundRect">
            <a:avLst/>
          </a:prstGeom>
          <a:solidFill>
            <a:srgbClr val="43E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3E97B"/>
                </a:solidFill>
                <a:latin typeface="Calibri"/>
              </a:defRPr>
            </a:pPr>
            <a:r>
              <a:t>WEEK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1945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Data Preprocessing</a:t>
            </a:r>
            <a:br/>
            <a:r>
              <a:t>&amp; Feature Engineering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59" y="3108960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43E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85/100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645920"/>
            <a:ext cx="3383280" cy="219456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0" y="1645920"/>
            <a:ext cx="3383280" cy="50800"/>
          </a:xfrm>
          <a:prstGeom prst="roundRect">
            <a:avLst/>
          </a:prstGeom>
          <a:solidFill>
            <a:srgbClr val="FF6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584"/>
                </a:solidFill>
                <a:latin typeface="Calibri"/>
              </a:defRPr>
            </a:pPr>
            <a:r>
              <a:t>WEEK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1945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ML Model Building</a:t>
            </a:r>
            <a:br/>
            <a:r>
              <a:t>&amp; Tuning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0" y="3108960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FF6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45/100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06240"/>
            <a:ext cx="3383280" cy="219456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4206240"/>
            <a:ext cx="3383280" cy="5080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A623"/>
                </a:solidFill>
                <a:latin typeface="Calibri"/>
              </a:defRPr>
            </a:pPr>
            <a:r>
              <a:t>WEEK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7548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Explainable AI</a:t>
            </a:r>
            <a:br/>
            <a:r>
              <a:t>&amp; Interpretability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17520" y="5669280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55/100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59" y="4206240"/>
            <a:ext cx="3383280" cy="219456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480559" y="4206240"/>
            <a:ext cx="3383280" cy="5080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79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63FF"/>
                </a:solidFill>
                <a:latin typeface="Calibri"/>
              </a:defRPr>
            </a:pPr>
            <a:r>
              <a:t>WEEK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79" y="47548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Deployment &amp;</a:t>
            </a:r>
            <a:br/>
            <a:r>
              <a:t>Monitoring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66559" y="5669280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95/100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4206240"/>
            <a:ext cx="3383280" cy="219456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29600" y="4206240"/>
            <a:ext cx="3383280" cy="50800"/>
          </a:xfrm>
          <a:prstGeom prst="roundRect">
            <a:avLst/>
          </a:prstGeom>
          <a:solidFill>
            <a:srgbClr val="43E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3E97B"/>
                </a:solidFill>
                <a:latin typeface="Calibri"/>
              </a:defRPr>
            </a:pPr>
            <a:r>
              <a:t>WEEK 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7548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AI Ethics &amp;</a:t>
            </a:r>
            <a:br/>
            <a:r>
              <a:t>Bias Analysis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515600" y="5669280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43E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70/100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63FF"/>
                </a:solidFill>
                <a:latin typeface="Calibri"/>
              </a:defRPr>
            </a:pPr>
            <a:r>
              <a:t>WEEK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AI Project Planning &amp; Documentation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41148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63FF"/>
                </a:solidFill>
                <a:latin typeface="Calibri"/>
              </a:defRPr>
            </a:pPr>
            <a:r>
              <a:t>📋  Deliverables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A0A8B8"/>
                </a:solidFill>
                <a:latin typeface="Calibri"/>
              </a:defRPr>
            </a:pPr>
            <a:r>
              <a:t>▸  Detailed project plan for healthcare predictive analytics</a:t>
            </a:r>
          </a:p>
          <a:p>
            <a:pPr>
              <a:spcAft>
                <a:spcPts val="800"/>
              </a:spcAft>
              <a:defRPr sz="1400">
                <a:solidFill>
                  <a:srgbClr val="A0A8B8"/>
                </a:solidFill>
                <a:latin typeface="Calibri"/>
              </a:defRPr>
            </a:pPr>
            <a:r>
              <a:t>▸  Hypothesis formulation &amp; feasibility assessment</a:t>
            </a:r>
          </a:p>
          <a:p>
            <a:pPr>
              <a:spcAft>
                <a:spcPts val="800"/>
              </a:spcAft>
              <a:defRPr sz="1400">
                <a:solidFill>
                  <a:srgbClr val="A0A8B8"/>
                </a:solidFill>
                <a:latin typeface="Calibri"/>
              </a:defRPr>
            </a:pPr>
            <a:r>
              <a:t>▸  Technology stack selection (Python, scikit-learn, pandas)</a:t>
            </a:r>
          </a:p>
          <a:p>
            <a:pPr>
              <a:spcAft>
                <a:spcPts val="800"/>
              </a:spcAft>
              <a:defRPr sz="1400">
                <a:solidFill>
                  <a:srgbClr val="A0A8B8"/>
                </a:solidFill>
                <a:latin typeface="Calibri"/>
              </a:defRPr>
            </a:pPr>
            <a:r>
              <a:t>▸  Risk assessment with mitigation strategies</a:t>
            </a:r>
          </a:p>
          <a:p>
            <a:pPr>
              <a:spcAft>
                <a:spcPts val="800"/>
              </a:spcAft>
              <a:defRPr sz="1400">
                <a:solidFill>
                  <a:srgbClr val="A0A8B8"/>
                </a:solidFill>
                <a:latin typeface="Calibri"/>
              </a:defRPr>
            </a:pPr>
            <a:r>
              <a:t>▸  Project timeline with milestone tracking</a:t>
            </a:r>
          </a:p>
          <a:p>
            <a:pPr>
              <a:spcAft>
                <a:spcPts val="800"/>
              </a:spcAft>
              <a:defRPr sz="1400">
                <a:solidFill>
                  <a:srgbClr val="A0A8B8"/>
                </a:solidFill>
                <a:latin typeface="Calibri"/>
              </a:defRPr>
            </a:pPr>
            <a:r>
              <a:t>▸  Data governance &amp; ethical considerations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029200" cy="41148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3E97B"/>
                </a:solidFill>
                <a:latin typeface="Calibri"/>
              </a:defRPr>
            </a:pPr>
            <a:r>
              <a:t>💡  Key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5603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A0A8B8"/>
                </a:solidFill>
                <a:latin typeface="Calibri"/>
              </a:defRPr>
            </a:pPr>
            <a:r>
              <a:t>▸  Simulated real-world AI project ideation process</a:t>
            </a:r>
          </a:p>
          <a:p>
            <a:pPr>
              <a:spcAft>
                <a:spcPts val="800"/>
              </a:spcAft>
              <a:defRPr sz="1400">
                <a:solidFill>
                  <a:srgbClr val="A0A8B8"/>
                </a:solidFill>
                <a:latin typeface="Calibri"/>
              </a:defRPr>
            </a:pPr>
            <a:r>
              <a:t>▸  Documented methodology for data collection &amp; analysis</a:t>
            </a:r>
          </a:p>
          <a:p>
            <a:pPr>
              <a:spcAft>
                <a:spcPts val="800"/>
              </a:spcAft>
              <a:defRPr sz="1400">
                <a:solidFill>
                  <a:srgbClr val="A0A8B8"/>
                </a:solidFill>
                <a:latin typeface="Calibri"/>
              </a:defRPr>
            </a:pPr>
            <a:r>
              <a:t>▸  Identified scalability challenges for production</a:t>
            </a:r>
          </a:p>
          <a:p>
            <a:pPr>
              <a:spcAft>
                <a:spcPts val="800"/>
              </a:spcAft>
              <a:defRPr sz="1400">
                <a:solidFill>
                  <a:srgbClr val="A0A8B8"/>
                </a:solidFill>
                <a:latin typeface="Calibri"/>
              </a:defRPr>
            </a:pPr>
            <a:r>
              <a:t>▸  Learned importance of thorough documentation</a:t>
            </a:r>
          </a:p>
          <a:p>
            <a:pPr>
              <a:spcAft>
                <a:spcPts val="800"/>
              </a:spcAft>
              <a:defRPr sz="1400">
                <a:solidFill>
                  <a:srgbClr val="A0A8B8"/>
                </a:solidFill>
                <a:latin typeface="Calibri"/>
              </a:defRPr>
            </a:pPr>
            <a:r>
              <a:t>▸  Feedback: needed deeper ethical exploration</a:t>
            </a:r>
          </a:p>
          <a:p>
            <a:pPr>
              <a:spcAft>
                <a:spcPts val="800"/>
              </a:spcAft>
              <a:defRPr sz="1400">
                <a:solidFill>
                  <a:srgbClr val="A0A8B8"/>
                </a:solidFill>
                <a:latin typeface="Calibri"/>
              </a:defRPr>
            </a:pPr>
            <a:r>
              <a:t>▸  Score: 65/100 — room for improvement in depth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3E97B"/>
                </a:solidFill>
                <a:latin typeface="Calibri"/>
              </a:defRPr>
            </a:pPr>
            <a:r>
              <a:t>WEEK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Data Preprocessing &amp; Feature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38100"/>
          </a:xfrm>
          <a:prstGeom prst="rect">
            <a:avLst/>
          </a:prstGeom>
          <a:solidFill>
            <a:srgbClr val="43E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3E97B"/>
                </a:solidFill>
                <a:latin typeface="Calibri"/>
              </a:defRPr>
            </a:pPr>
            <a:r>
              <a:t>Titanic Dataset  •  891 samples  •  Score: 85/100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A0A8B8"/>
                </a:solidFill>
                <a:latin typeface="Calibri"/>
              </a:defRPr>
            </a:pPr>
            <a:r>
              <a:t>▸  KNN Imputation for missing Age values (19.9%)</a:t>
            </a:r>
          </a:p>
          <a:p>
            <a:pPr>
              <a:spcAft>
                <a:spcPts val="800"/>
              </a:spcAft>
              <a:defRPr sz="1500">
                <a:solidFill>
                  <a:srgbClr val="A0A8B8"/>
                </a:solidFill>
                <a:latin typeface="Calibri"/>
              </a:defRPr>
            </a:pPr>
            <a:r>
              <a:t>▸  IQR-based outlier detection with Winsorization</a:t>
            </a:r>
          </a:p>
          <a:p>
            <a:pPr>
              <a:spcAft>
                <a:spcPts val="800"/>
              </a:spcAft>
              <a:defRPr sz="1500">
                <a:solidFill>
                  <a:srgbClr val="A0A8B8"/>
                </a:solidFill>
                <a:latin typeface="Calibri"/>
              </a:defRPr>
            </a:pPr>
            <a:r>
              <a:t>▸  Engineered features: FamilySize, IsAlone, Title, FareBin</a:t>
            </a:r>
          </a:p>
          <a:p>
            <a:pPr>
              <a:spcAft>
                <a:spcPts val="800"/>
              </a:spcAft>
              <a:defRPr sz="1500">
                <a:solidFill>
                  <a:srgbClr val="A0A8B8"/>
                </a:solidFill>
                <a:latin typeface="Calibri"/>
              </a:defRPr>
            </a:pPr>
            <a:r>
              <a:t>▸  One-hot encoding for categorical variables</a:t>
            </a:r>
          </a:p>
          <a:p>
            <a:pPr>
              <a:spcAft>
                <a:spcPts val="800"/>
              </a:spcAft>
              <a:defRPr sz="1500">
                <a:solidFill>
                  <a:srgbClr val="A0A8B8"/>
                </a:solidFill>
                <a:latin typeface="Calibri"/>
              </a:defRPr>
            </a:pPr>
            <a:r>
              <a:t>▸  StandardScaler normalization pipeline</a:t>
            </a:r>
          </a:p>
          <a:p>
            <a:pPr>
              <a:spcAft>
                <a:spcPts val="800"/>
              </a:spcAft>
              <a:defRPr sz="1500">
                <a:solidFill>
                  <a:srgbClr val="A0A8B8"/>
                </a:solidFill>
                <a:latin typeface="Calibri"/>
              </a:defRPr>
            </a:pPr>
            <a:r>
              <a:t>▸  Reproducible sklearn Pipeline assembly</a:t>
            </a:r>
          </a:p>
        </p:txBody>
      </p:sp>
      <p:pic>
        <p:nvPicPr>
          <p:cNvPr id="7" name="Picture 6" descr="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303520" cy="4529191"/>
          </a:xfrm>
          <a:prstGeom prst="rect">
            <a:avLst/>
          </a:prstGeom>
        </p:spPr>
      </p:pic>
      <p:pic>
        <p:nvPicPr>
          <p:cNvPr id="8" name="Picture 7" descr="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4114800"/>
            <a:ext cx="5303520" cy="42313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584"/>
                </a:solidFill>
                <a:latin typeface="Calibri"/>
              </a:defRPr>
            </a:pPr>
            <a:r>
              <a:t>WEEK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Building &amp; Tuning an AI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38100"/>
          </a:xfrm>
          <a:prstGeom prst="rect">
            <a:avLst/>
          </a:prstGeom>
          <a:solidFill>
            <a:srgbClr val="FF6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2286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584"/>
                </a:solidFill>
                <a:latin typeface="Calibri"/>
              </a:defRPr>
            </a:pPr>
            <a:r>
              <a:t>Breast Cancer Wisconsin  •  Random Forest  •  GridSearchCV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A0A8B8"/>
                </a:solidFill>
                <a:latin typeface="Calibri"/>
              </a:defRPr>
            </a:pPr>
            <a:r>
              <a:t>▸  162 hyperparameter combinations × 5-fold CV = 810 fits</a:t>
            </a:r>
          </a:p>
          <a:p>
            <a:pPr>
              <a:spcAft>
                <a:spcPts val="800"/>
              </a:spcAft>
              <a:defRPr sz="1400">
                <a:solidFill>
                  <a:srgbClr val="A0A8B8"/>
                </a:solidFill>
                <a:latin typeface="Calibri"/>
              </a:defRPr>
            </a:pPr>
            <a:r>
              <a:t>▸  Optimized for F1-score (clinically relevant)</a:t>
            </a:r>
          </a:p>
          <a:p>
            <a:pPr>
              <a:spcAft>
                <a:spcPts val="800"/>
              </a:spcAft>
              <a:defRPr sz="1400">
                <a:solidFill>
                  <a:srgbClr val="A0A8B8"/>
                </a:solidFill>
                <a:latin typeface="Calibri"/>
              </a:defRPr>
            </a:pPr>
            <a:r>
              <a:t>▸  Tuned F1: ≥ 0.97  |  AUC: ≥ 0.995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5029200" cy="210312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480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Performance 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8463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8B8"/>
                </a:solidFill>
                <a:latin typeface="Consolas"/>
              </a:defRPr>
            </a:pPr>
            <a:r>
              <a:t>Metric          Baseline      Tuned         Change</a:t>
            </a:r>
            <a:br/>
            <a:r>
              <a:t>━━━━━━━━━━━━━━━━━━━━━━━━━━━━━━━━━━━━━━━━━</a:t>
            </a:r>
            <a:br/>
            <a:r>
              <a:t>Accuracy        0.96           0.98           ↑</a:t>
            </a:r>
            <a:br/>
            <a:r>
              <a:t>Precision       0.96           0.98           ↑</a:t>
            </a:r>
            <a:br/>
            <a:r>
              <a:t>Recall           0.96           0.98           ↑</a:t>
            </a:r>
            <a:br/>
            <a:r>
              <a:t>F1-Score        0.97           0.99           ↑</a:t>
            </a:r>
            <a:br/>
            <a:r>
              <a:t>ROC-AUC        0.99           0.999         ↑</a:t>
            </a:r>
          </a:p>
        </p:txBody>
      </p:sp>
      <p:pic>
        <p:nvPicPr>
          <p:cNvPr id="11" name="Picture 10" descr="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303520" cy="2029840"/>
          </a:xfrm>
          <a:prstGeom prst="rect">
            <a:avLst/>
          </a:prstGeom>
        </p:spPr>
      </p:pic>
      <p:pic>
        <p:nvPicPr>
          <p:cNvPr id="12" name="Picture 11" descr="roc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4114800"/>
            <a:ext cx="5303520" cy="39505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A623"/>
                </a:solidFill>
                <a:latin typeface="Calibri"/>
              </a:defRPr>
            </a:pPr>
            <a:r>
              <a:t>WEEK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Explainable AI &amp; Model Interpretability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A623"/>
                </a:solidFill>
                <a:latin typeface="Calibri"/>
              </a:defRPr>
            </a:pPr>
            <a:r>
              <a:t>🔍  SHAP (SHapley Additive exPlanations)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A0A8B8"/>
                </a:solidFill>
                <a:latin typeface="Calibri"/>
              </a:defRPr>
            </a:pPr>
            <a:r>
              <a:t>▸  TreeExplainer for global feature importance</a:t>
            </a:r>
          </a:p>
          <a:p>
            <a:pPr>
              <a:spcAft>
                <a:spcPts val="800"/>
              </a:spcAft>
              <a:defRPr sz="1400">
                <a:solidFill>
                  <a:srgbClr val="A0A8B8"/>
                </a:solidFill>
                <a:latin typeface="Calibri"/>
              </a:defRPr>
            </a:pPr>
            <a:r>
              <a:t>▸  Beeswarm plots showing feature impact direction</a:t>
            </a:r>
          </a:p>
          <a:p>
            <a:pPr>
              <a:spcAft>
                <a:spcPts val="800"/>
              </a:spcAft>
              <a:defRPr sz="1400">
                <a:solidFill>
                  <a:srgbClr val="A0A8B8"/>
                </a:solidFill>
                <a:latin typeface="Calibri"/>
              </a:defRPr>
            </a:pPr>
            <a:r>
              <a:t>▸  Waterfall plots for individual prediction breakdown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A623"/>
                </a:solidFill>
                <a:latin typeface="Calibri"/>
              </a:defRPr>
            </a:pPr>
            <a:r>
              <a:t>🔍  LIME (Local Interpretable Explanations)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A0A8B8"/>
                </a:solidFill>
                <a:latin typeface="Calibri"/>
              </a:defRPr>
            </a:pPr>
            <a:r>
              <a:t>▸  Local surrogate models for individual predictions</a:t>
            </a:r>
          </a:p>
          <a:p>
            <a:pPr>
              <a:spcAft>
                <a:spcPts val="800"/>
              </a:spcAft>
              <a:defRPr sz="1400">
                <a:solidFill>
                  <a:srgbClr val="A0A8B8"/>
                </a:solidFill>
                <a:latin typeface="Calibri"/>
              </a:defRPr>
            </a:pPr>
            <a:r>
              <a:t>▸  Benign &amp; Malignant case explanations</a:t>
            </a:r>
          </a:p>
          <a:p>
            <a:pPr>
              <a:spcAft>
                <a:spcPts val="800"/>
              </a:spcAft>
              <a:defRPr sz="1400">
                <a:solidFill>
                  <a:srgbClr val="A0A8B8"/>
                </a:solidFill>
                <a:latin typeface="Calibri"/>
              </a:defRPr>
            </a:pPr>
            <a:r>
              <a:t>▸  Complementary to SHAP for clinical trust</a:t>
            </a:r>
          </a:p>
        </p:txBody>
      </p:sp>
      <p:pic>
        <p:nvPicPr>
          <p:cNvPr id="9" name="Picture 8" descr="fig3_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303520" cy="4433968"/>
          </a:xfrm>
          <a:prstGeom prst="rect">
            <a:avLst/>
          </a:prstGeom>
        </p:spPr>
      </p:pic>
      <p:pic>
        <p:nvPicPr>
          <p:cNvPr id="10" name="Picture 9" descr="fig6_lime_benig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4114800"/>
            <a:ext cx="5303520" cy="31527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Calibri"/>
              </a:defRPr>
            </a:pPr>
            <a:r>
              <a:t>WEEK 5  ★  HIGHEST SCORE: 95/100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AI Model Deployment &amp; Monitoring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74320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Calibri"/>
              </a:defRPr>
            </a:pPr>
            <a:r>
              <a:t>🏗️  System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494280"/>
            <a:ext cx="127000" cy="12700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443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63FF"/>
                </a:solidFill>
                <a:latin typeface="Calibri"/>
              </a:defRPr>
            </a:pPr>
            <a:r>
              <a:t>FastAPI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443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8B8"/>
                </a:solidFill>
                <a:latin typeface="Calibri"/>
              </a:defRPr>
            </a:pPr>
            <a:r>
              <a:t>7 REST endpoints, Pydantic validation,</a:t>
            </a:r>
            <a:br/>
            <a:r>
              <a:t>Swagger UI, CORS, request-ID middleware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3225800"/>
            <a:ext cx="127000" cy="127000"/>
          </a:xfrm>
          <a:prstGeom prst="roundRect">
            <a:avLst/>
          </a:prstGeom>
          <a:solidFill>
            <a:srgbClr val="43E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175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3E97B"/>
                </a:solidFill>
                <a:latin typeface="Calibri"/>
              </a:defRPr>
            </a:pPr>
            <a:r>
              <a:t>Docker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1750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8B8"/>
                </a:solidFill>
                <a:latin typeface="Calibri"/>
              </a:defRPr>
            </a:pPr>
            <a:r>
              <a:t>Multi-stage build, non-root user,</a:t>
            </a:r>
            <a:br/>
            <a:r>
              <a:t>healthcheck, compose with resource limits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957320"/>
            <a:ext cx="127000" cy="12700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390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A623"/>
                </a:solidFill>
                <a:latin typeface="Calibri"/>
              </a:defRPr>
            </a:pPr>
            <a:r>
              <a:t>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9065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8B8"/>
                </a:solidFill>
                <a:latin typeface="Calibri"/>
              </a:defRPr>
            </a:pPr>
            <a:r>
              <a:t>Thread-safe MetricsStore, latency P95,</a:t>
            </a:r>
            <a:br/>
            <a:r>
              <a:t>error rates, per-class distributions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4688840"/>
            <a:ext cx="127000" cy="127000"/>
          </a:xfrm>
          <a:prstGeom prst="roundRect">
            <a:avLst/>
          </a:prstGeom>
          <a:solidFill>
            <a:srgbClr val="FF6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4638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584"/>
                </a:solidFill>
                <a:latin typeface="Calibri"/>
              </a:defRPr>
            </a:pPr>
            <a:r>
              <a:t>Logging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6380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8B8"/>
                </a:solidFill>
                <a:latin typeface="Calibri"/>
              </a:defRPr>
            </a:pPr>
            <a:r>
              <a:t>Structured JSON (python-json-logger),</a:t>
            </a:r>
            <a:br/>
            <a:r>
              <a:t>rotating files (10 MB × 5 backups)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5420360"/>
            <a:ext cx="127000" cy="127000"/>
          </a:xfrm>
          <a:prstGeom prst="round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5369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29BFE"/>
                </a:solidFill>
                <a:latin typeface="Calibri"/>
              </a:defRPr>
            </a:pPr>
            <a:r>
              <a:t>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53695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8B8"/>
                </a:solidFill>
                <a:latin typeface="Calibri"/>
              </a:defRPr>
            </a:pPr>
            <a:r>
              <a:t>15 pytest tests covering all endpoints,</a:t>
            </a:r>
            <a:br/>
            <a:r>
              <a:t>validation, edge cases, accumulation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1737360"/>
            <a:ext cx="4846320" cy="4572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Calibri"/>
              </a:defRPr>
            </a:pPr>
            <a:r>
              <a:t>🌐  API Endpoints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46888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Consolas"/>
              </a:defRPr>
            </a:pPr>
            <a:r>
              <a:t>GET   /health         Liveness probe</a:t>
            </a:r>
            <a:br/>
            <a:r>
              <a:t>GET   /metrics        Operational metrics</a:t>
            </a:r>
            <a:br/>
            <a:r>
              <a:t>GET   /model/info     Model metadata</a:t>
            </a:r>
            <a:br/>
            <a:r>
              <a:t>POST  /predict        Single prediction</a:t>
            </a:r>
            <a:br/>
            <a:r>
              <a:t>POST  /predict/batch  Batch (1-256)</a:t>
            </a:r>
            <a:br/>
            <a:r>
              <a:t>GET   /docs           Swagger UI</a:t>
            </a:r>
            <a:br/>
            <a:r>
              <a:t>GET   /redoc          ReDoc docs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5720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C63FF"/>
                </a:solidFill>
                <a:latin typeface="Calibri"/>
              </a:defRPr>
            </a:pPr>
            <a:r>
              <a:t>Sample /predict Response: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937760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3E97B"/>
                </a:solidFill>
                <a:latin typeface="Consolas"/>
              </a:defRPr>
            </a:pPr>
            <a:r>
              <a:t>{"prediction": 0, "class_name": "setosa",</a:t>
            </a:r>
            <a:br/>
            <a:r>
              <a:t> "confidence": 1.0, "probabilities":</a:t>
            </a:r>
            <a:br/>
            <a:r>
              <a:t> {"setosa": 1.0, "versicolor": 0.0,</a:t>
            </a:r>
            <a:br/>
            <a:r>
              <a:t>  "virginica": 0.0}}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Calibri"/>
              </a:defRPr>
            </a:pPr>
            <a:r>
              <a:t>WEEK 5  ★  DEPLOYMENT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Docker, Monitoring &amp; 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74320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303520" cy="4572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63FF"/>
                </a:solidFill>
                <a:latin typeface="Calibri"/>
              </a:defRPr>
            </a:pPr>
            <a:r>
              <a:t>🐳  Dockerfile (Multi-stage Build)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3E97B"/>
                </a:solidFill>
                <a:latin typeface="Consolas"/>
              </a:defRPr>
            </a:pPr>
            <a:r>
              <a:t>FROM python:3.11-slim AS builder</a:t>
            </a:r>
            <a:br/>
            <a:r>
              <a:t>WORKDIR /build</a:t>
            </a:r>
            <a:br/>
            <a:r>
              <a:t>COPY requirements.txt .</a:t>
            </a:r>
            <a:br/>
            <a:r>
              <a:t>RUN pip install --prefix=/install ...</a:t>
            </a:r>
            <a:br/>
            <a:br/>
            <a:r>
              <a:t>FROM python:3.11-slim AS runtime</a:t>
            </a:r>
            <a:br/>
            <a:r>
              <a:t>RUN groupadd appgroup &amp;&amp; \</a:t>
            </a:r>
            <a:br/>
            <a:r>
              <a:t>    useradd --gid appgroup appuser</a:t>
            </a:r>
            <a:br/>
            <a:r>
              <a:t>COPY --from=builder /install /usr/local</a:t>
            </a:r>
            <a:br/>
            <a:r>
              <a:t>COPY app/ ./app/</a:t>
            </a:r>
            <a:br/>
            <a:r>
              <a:t>USER appuser</a:t>
            </a:r>
            <a:br/>
            <a:r>
              <a:t>EXPOSE 8000</a:t>
            </a:r>
            <a:br/>
            <a:r>
              <a:t>HEALTHCHECK --interval=30s ...</a:t>
            </a:r>
            <a:br/>
            <a:r>
              <a:t>CMD ["uvicorn", "app.main:app",</a:t>
            </a:r>
            <a:br/>
            <a:r>
              <a:t>     "--host", "0.0.0.0", "--port", "8000"]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737360"/>
            <a:ext cx="5029200" cy="210312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A623"/>
                </a:solidFill>
                <a:latin typeface="Calibri"/>
              </a:defRPr>
            </a:pPr>
            <a:r>
              <a:t>📊  Metrics Tracked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3774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A0A8B8"/>
                </a:solidFill>
                <a:latin typeface="Calibri"/>
              </a:defRPr>
            </a:pPr>
            <a:r>
              <a:t>▸  Total requests / success / failures</a:t>
            </a:r>
          </a:p>
          <a:p>
            <a:pPr>
              <a:spcAft>
                <a:spcPts val="800"/>
              </a:spcAft>
              <a:defRPr sz="1200">
                <a:solidFill>
                  <a:srgbClr val="A0A8B8"/>
                </a:solidFill>
                <a:latin typeface="Calibri"/>
              </a:defRPr>
            </a:pPr>
            <a:r>
              <a:t>▸  Avg latency &amp; P95 latency (ms)</a:t>
            </a:r>
          </a:p>
          <a:p>
            <a:pPr>
              <a:spcAft>
                <a:spcPts val="800"/>
              </a:spcAft>
              <a:defRPr sz="1200">
                <a:solidFill>
                  <a:srgbClr val="A0A8B8"/>
                </a:solidFill>
                <a:latin typeface="Calibri"/>
              </a:defRPr>
            </a:pPr>
            <a:r>
              <a:t>▸  Error rate % &amp; per-class distribution</a:t>
            </a:r>
          </a:p>
          <a:p>
            <a:pPr>
              <a:spcAft>
                <a:spcPts val="800"/>
              </a:spcAft>
              <a:defRPr sz="1200">
                <a:solidFill>
                  <a:srgbClr val="A0A8B8"/>
                </a:solidFill>
                <a:latin typeface="Calibri"/>
              </a:defRPr>
            </a:pPr>
            <a:r>
              <a:t>▸  Rolling window: last 1000 samples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114800"/>
            <a:ext cx="5029200" cy="219456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584"/>
                </a:solidFill>
                <a:latin typeface="Calibri"/>
              </a:defRPr>
            </a:pPr>
            <a:r>
              <a:t>🧪  Test Suite: 15 pytest 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7548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A0A8B8"/>
                </a:solidFill>
                <a:latin typeface="Calibri"/>
              </a:defRPr>
            </a:pPr>
            <a:r>
              <a:t>▸  Health: status 200, correct payload fields</a:t>
            </a:r>
          </a:p>
          <a:p>
            <a:pPr>
              <a:spcAft>
                <a:spcPts val="800"/>
              </a:spcAft>
              <a:defRPr sz="1200">
                <a:solidFill>
                  <a:srgbClr val="A0A8B8"/>
                </a:solidFill>
                <a:latin typeface="Calibri"/>
              </a:defRPr>
            </a:pPr>
            <a:r>
              <a:t>▸  Predict: setosa/virginica, validation, negatives</a:t>
            </a:r>
          </a:p>
          <a:p>
            <a:pPr>
              <a:spcAft>
                <a:spcPts val="800"/>
              </a:spcAft>
              <a:defRPr sz="1200">
                <a:solidFill>
                  <a:srgbClr val="A0A8B8"/>
                </a:solidFill>
                <a:latin typeface="Calibri"/>
              </a:defRPr>
            </a:pPr>
            <a:r>
              <a:t>▸  Batch: correct count, empty list rejection</a:t>
            </a:r>
          </a:p>
          <a:p>
            <a:pPr>
              <a:spcAft>
                <a:spcPts val="800"/>
              </a:spcAft>
              <a:defRPr sz="1200">
                <a:solidFill>
                  <a:srgbClr val="A0A8B8"/>
                </a:solidFill>
                <a:latin typeface="Calibri"/>
              </a:defRPr>
            </a:pPr>
            <a:r>
              <a:t>▸  Metrics: field presence, accumulation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3E97B"/>
                </a:solidFill>
                <a:latin typeface="Calibri"/>
              </a:defRPr>
            </a:pPr>
            <a:r>
              <a:t>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AI Ethics, Bias Analysis &amp; Fairness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38100"/>
          </a:xfrm>
          <a:prstGeom prst="rect">
            <a:avLst/>
          </a:prstGeom>
          <a:solidFill>
            <a:srgbClr val="43E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3E97B"/>
                </a:solidFill>
                <a:latin typeface="Calibri"/>
              </a:defRPr>
            </a:pPr>
            <a:r>
              <a:t>UCI Adult Census  •  Logistic Regression  •  32,561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Fairness Metrics Evaluated: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A0A8B8"/>
                </a:solidFill>
                <a:latin typeface="Calibri"/>
              </a:defRPr>
            </a:pPr>
            <a:r>
              <a:t>▸  Demographic Parity — equal prediction rates</a:t>
            </a:r>
          </a:p>
          <a:p>
            <a:pPr>
              <a:spcAft>
                <a:spcPts val="800"/>
              </a:spcAft>
              <a:defRPr sz="1400">
                <a:solidFill>
                  <a:srgbClr val="A0A8B8"/>
                </a:solidFill>
                <a:latin typeface="Calibri"/>
              </a:defRPr>
            </a:pPr>
            <a:r>
              <a:t>▸  Disparate Impact Ratio — 80% rule (FAIL for sex)</a:t>
            </a:r>
          </a:p>
          <a:p>
            <a:pPr>
              <a:spcAft>
                <a:spcPts val="800"/>
              </a:spcAft>
              <a:defRPr sz="1400">
                <a:solidFill>
                  <a:srgbClr val="A0A8B8"/>
                </a:solidFill>
                <a:latin typeface="Calibri"/>
              </a:defRPr>
            </a:pPr>
            <a:r>
              <a:t>▸  Equalized Odds — TPR/FPR by group</a:t>
            </a:r>
          </a:p>
          <a:p>
            <a:pPr>
              <a:spcAft>
                <a:spcPts val="800"/>
              </a:spcAft>
              <a:defRPr sz="1400">
                <a:solidFill>
                  <a:srgbClr val="A0A8B8"/>
                </a:solidFill>
                <a:latin typeface="Calibri"/>
              </a:defRPr>
            </a:pPr>
            <a:r>
              <a:t>▸  Predictive Parity — precision across groups</a:t>
            </a:r>
          </a:p>
          <a:p>
            <a:pPr>
              <a:spcAft>
                <a:spcPts val="800"/>
              </a:spcAft>
              <a:defRPr sz="1400">
                <a:solidFill>
                  <a:srgbClr val="A0A8B8"/>
                </a:solidFill>
                <a:latin typeface="Calibri"/>
              </a:defRPr>
            </a:pPr>
            <a:r>
              <a:t>▸  Intersectional Bias — Race × Sex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Remediation Strategies: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120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A0A8B8"/>
                </a:solidFill>
                <a:latin typeface="Calibri"/>
              </a:defRPr>
            </a:pPr>
            <a:r>
              <a:t>▸  Re-sampling / re-weighting training data</a:t>
            </a:r>
          </a:p>
          <a:p>
            <a:pPr>
              <a:spcAft>
                <a:spcPts val="800"/>
              </a:spcAft>
              <a:defRPr sz="1400">
                <a:solidFill>
                  <a:srgbClr val="A0A8B8"/>
                </a:solidFill>
                <a:latin typeface="Calibri"/>
              </a:defRPr>
            </a:pPr>
            <a:r>
              <a:t>▸  Adversarial debiasing &amp; fairness constraints</a:t>
            </a:r>
          </a:p>
          <a:p>
            <a:pPr>
              <a:spcAft>
                <a:spcPts val="800"/>
              </a:spcAft>
              <a:defRPr sz="1400">
                <a:solidFill>
                  <a:srgbClr val="A0A8B8"/>
                </a:solidFill>
                <a:latin typeface="Calibri"/>
              </a:defRPr>
            </a:pPr>
            <a:r>
              <a:t>▸  Per-group threshold adjustment</a:t>
            </a:r>
          </a:p>
        </p:txBody>
      </p:sp>
      <p:pic>
        <p:nvPicPr>
          <p:cNvPr id="10" name="Picture 9" descr="fig2_disparate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303520" cy="1886658"/>
          </a:xfrm>
          <a:prstGeom prst="rect">
            <a:avLst/>
          </a:prstGeom>
        </p:spPr>
      </p:pic>
      <p:pic>
        <p:nvPicPr>
          <p:cNvPr id="11" name="Picture 10" descr="fig6_fairness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4114800"/>
            <a:ext cx="5303520" cy="273561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TAKEAWAYS &amp;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0A8B8"/>
                </a:solidFill>
                <a:latin typeface="Calibri"/>
              </a:defRPr>
            </a:pPr>
            <a:r>
              <a:t>Evaluation Scores Across 6 Weeks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920240"/>
            <a:ext cx="1097280" cy="10972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  <a:defRPr sz="2200" b="1">
                <a:solidFill>
                  <a:srgbClr val="FFFFFF"/>
                </a:solidFill>
                <a:latin typeface="Calibri"/>
              </a:defRPr>
            </a:pPr>
            <a: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8B8"/>
                </a:solidFill>
                <a:latin typeface="Calibri"/>
              </a:defRPr>
            </a:pPr>
            <a:r>
              <a:t>W1</a:t>
            </a:r>
            <a:br/>
            <a:r>
              <a:t>Planning</a:t>
            </a:r>
          </a:p>
        </p:txBody>
      </p:sp>
      <p:sp>
        <p:nvSpPr>
          <p:cNvPr id="7" name="Oval 6"/>
          <p:cNvSpPr/>
          <p:nvPr/>
        </p:nvSpPr>
        <p:spPr>
          <a:xfrm>
            <a:off x="2560320" y="1920240"/>
            <a:ext cx="1097280" cy="1097280"/>
          </a:xfrm>
          <a:prstGeom prst="ellipse">
            <a:avLst/>
          </a:prstGeom>
          <a:solidFill>
            <a:srgbClr val="43E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  <a:defRPr sz="2200" b="1">
                <a:solidFill>
                  <a:srgbClr val="FFFFFF"/>
                </a:solidFill>
                <a:latin typeface="Calibri"/>
              </a:defRPr>
            </a:pPr>
            <a:r>
              <a:t>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31089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8B8"/>
                </a:solidFill>
                <a:latin typeface="Calibri"/>
              </a:defRPr>
            </a:pPr>
            <a:r>
              <a:t>W2</a:t>
            </a:r>
            <a:br/>
            <a:r>
              <a:t>Data</a:t>
            </a:r>
          </a:p>
        </p:txBody>
      </p:sp>
      <p:sp>
        <p:nvSpPr>
          <p:cNvPr id="9" name="Oval 8"/>
          <p:cNvSpPr/>
          <p:nvPr/>
        </p:nvSpPr>
        <p:spPr>
          <a:xfrm>
            <a:off x="4389120" y="1920240"/>
            <a:ext cx="1097280" cy="1097280"/>
          </a:xfrm>
          <a:prstGeom prst="ellipse">
            <a:avLst/>
          </a:prstGeom>
          <a:solidFill>
            <a:srgbClr val="FF6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  <a:defRPr sz="2200" b="1">
                <a:solidFill>
                  <a:srgbClr val="FFFFFF"/>
                </a:solidFill>
                <a:latin typeface="Calibri"/>
              </a:defRPr>
            </a:pPr>
            <a:r>
              <a:t>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1089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8B8"/>
                </a:solidFill>
                <a:latin typeface="Calibri"/>
              </a:defRPr>
            </a:pPr>
            <a:r>
              <a:t>W3</a:t>
            </a:r>
            <a:br/>
            <a:r>
              <a:t>Model</a:t>
            </a:r>
          </a:p>
        </p:txBody>
      </p:sp>
      <p:sp>
        <p:nvSpPr>
          <p:cNvPr id="11" name="Oval 10"/>
          <p:cNvSpPr/>
          <p:nvPr/>
        </p:nvSpPr>
        <p:spPr>
          <a:xfrm>
            <a:off x="6217920" y="1920240"/>
            <a:ext cx="1097280" cy="10972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  <a:defRPr sz="2200" b="1">
                <a:solidFill>
                  <a:srgbClr val="FFFFFF"/>
                </a:solidFill>
                <a:latin typeface="Calibri"/>
              </a:defRPr>
            </a:pPr>
            <a:r>
              <a:t>55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31089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8B8"/>
                </a:solidFill>
                <a:latin typeface="Calibri"/>
              </a:defRPr>
            </a:pPr>
            <a:r>
              <a:t>W4</a:t>
            </a:r>
            <a:br/>
            <a:r>
              <a:t>XAI</a:t>
            </a:r>
          </a:p>
        </p:txBody>
      </p:sp>
      <p:sp>
        <p:nvSpPr>
          <p:cNvPr id="13" name="Oval 12"/>
          <p:cNvSpPr/>
          <p:nvPr/>
        </p:nvSpPr>
        <p:spPr>
          <a:xfrm>
            <a:off x="8046720" y="1920240"/>
            <a:ext cx="1097280" cy="109728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  <a:defRPr sz="2200" b="1">
                <a:solidFill>
                  <a:srgbClr val="FFFFFF"/>
                </a:solidFill>
                <a:latin typeface="Calibri"/>
              </a:defRPr>
            </a:pPr>
            <a:r>
              <a:t>95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1089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8B8"/>
                </a:solidFill>
                <a:latin typeface="Calibri"/>
              </a:defRPr>
            </a:pPr>
            <a:r>
              <a:t>W5</a:t>
            </a:r>
            <a:br/>
            <a:r>
              <a:t>Deploy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0" y="1920240"/>
            <a:ext cx="1097280" cy="1097280"/>
          </a:xfrm>
          <a:prstGeom prst="ellipse">
            <a:avLst/>
          </a:prstGeom>
          <a:solidFill>
            <a:srgbClr val="43E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  <a:defRPr sz="2200" b="1">
                <a:solidFill>
                  <a:srgbClr val="FFFFFF"/>
                </a:solidFill>
                <a:latin typeface="Calibri"/>
              </a:defRPr>
            </a:pPr>
            <a:r>
              <a:t>70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31089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8B8"/>
                </a:solidFill>
                <a:latin typeface="Calibri"/>
              </a:defRPr>
            </a:pPr>
            <a:r>
              <a:t>W6</a:t>
            </a:r>
            <a:br/>
            <a:r>
              <a:t>Ethics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840480"/>
            <a:ext cx="10515600" cy="256032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63FF"/>
                </a:solidFill>
                <a:latin typeface="Calibri"/>
              </a:defRPr>
            </a:pPr>
            <a:r>
              <a:t>🎯  Key Lessons Learned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5720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A0A8B8"/>
                </a:solidFill>
                <a:latin typeface="Calibri"/>
              </a:defRPr>
            </a:pPr>
            <a:r>
              <a:t>▸  Deployment engineering &gt; model accuracy alone</a:t>
            </a:r>
          </a:p>
          <a:p>
            <a:pPr>
              <a:spcAft>
                <a:spcPts val="800"/>
              </a:spcAft>
              <a:defRPr sz="1400">
                <a:solidFill>
                  <a:srgbClr val="A0A8B8"/>
                </a:solidFill>
                <a:latin typeface="Calibri"/>
              </a:defRPr>
            </a:pPr>
            <a:r>
              <a:t>▸  Deliverable specs must be met precisely</a:t>
            </a:r>
          </a:p>
          <a:p>
            <a:pPr>
              <a:spcAft>
                <a:spcPts val="800"/>
              </a:spcAft>
              <a:defRPr sz="1400">
                <a:solidFill>
                  <a:srgbClr val="A0A8B8"/>
                </a:solidFill>
                <a:latin typeface="Calibri"/>
              </a:defRPr>
            </a:pPr>
            <a:r>
              <a:t>▸  Ethics must be integrated early, not as afterthought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3E97B"/>
                </a:solidFill>
                <a:latin typeface="Calibri"/>
              </a:defRPr>
            </a:pPr>
            <a:r>
              <a:t>🚀  Future Directions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5720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A0A8B8"/>
                </a:solidFill>
                <a:latin typeface="Calibri"/>
              </a:defRPr>
            </a:pPr>
            <a:r>
              <a:t>▸  CI/CD pipelines with GitHub Actions</a:t>
            </a:r>
          </a:p>
          <a:p>
            <a:pPr>
              <a:spcAft>
                <a:spcPts val="800"/>
              </a:spcAft>
              <a:defRPr sz="1400">
                <a:solidFill>
                  <a:srgbClr val="A0A8B8"/>
                </a:solidFill>
                <a:latin typeface="Calibri"/>
              </a:defRPr>
            </a:pPr>
            <a:r>
              <a:t>▸  MLflow model registry &amp; experiment tracking</a:t>
            </a:r>
          </a:p>
          <a:p>
            <a:pPr>
              <a:spcAft>
                <a:spcPts val="800"/>
              </a:spcAft>
              <a:defRPr sz="1400">
                <a:solidFill>
                  <a:srgbClr val="A0A8B8"/>
                </a:solidFill>
                <a:latin typeface="Calibri"/>
              </a:defRPr>
            </a:pPr>
            <a:r>
              <a:t>▸  Cloud deployment (AWS / Azure / GCP)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